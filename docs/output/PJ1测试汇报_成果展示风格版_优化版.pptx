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6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1580" y="1497330"/>
            <a:ext cx="960120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sz="4400" b="1" kern="100" dirty="0">
                <a:latin typeface="等线" panose="02010600030101010101" pitchFamily="2" charset="-122"/>
                <a:ea typeface="宋体" panose="02010600030101010101" pitchFamily="2" charset="-122"/>
                <a:sym typeface="+mn-ea"/>
              </a:rPr>
              <a:t>PJ1</a:t>
            </a:r>
            <a:r>
              <a:rPr lang="zh-CN" altLang="en-US" sz="4400" b="1" kern="100" dirty="0">
                <a:latin typeface="等线" panose="02010600030101010101" pitchFamily="2" charset="-122"/>
                <a:ea typeface="宋体" panose="02010600030101010101" pitchFamily="2" charset="-122"/>
                <a:sym typeface="+mn-ea"/>
              </a:rPr>
              <a:t>体育场预约系统</a:t>
            </a:r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  测试成果展示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996696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第  小组   胡彬泽 沙华煜 彭祈元 郭政颖 周宇尘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测试计划标识   Project1_TestPlan_V1.2_20260423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PJ1主要内容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5029200" cy="3566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1. 测试计划规定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测试项与先决条件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通过/失败准则与风险管控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小组分工与时间安排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交付物与可复现环境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5029200" cy="3566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2. 测试本身完成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service 单元测试与 controller 集成测试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黑盒等价类/边界值 + 白盒语句/判定覆盖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JUnit5、Mockito、MockMvc、H2、JaCoCo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执行结果、覆盖率与测试小结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测试项 &amp; 先决条件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5303520" cy="292608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r>
              <a:rPr sz="1400"/>
              <a:t>测试项版本/修订号</a:t>
            </a:r>
            <a:endParaRPr sz="1400"/>
          </a:p>
          <a:p>
            <a:r>
              <a:rPr sz="1400"/>
              <a:t>• service：7 个实现类，45 个业务方法</a:t>
            </a:r>
            <a:endParaRPr sz="1400"/>
          </a:p>
          <a:p>
            <a:r>
              <a:rPr sz="1400"/>
              <a:t>• controller：11 个控制器，65 个请求映射</a:t>
            </a:r>
            <a:endParaRPr sz="1400"/>
          </a:p>
          <a:p>
            <a:r>
              <a:rPr sz="1400"/>
              <a:t>• 测试脚本：20 个测试类</a:t>
            </a:r>
            <a:endParaRPr sz="1400"/>
          </a:p>
          <a:p>
            <a:r>
              <a:rPr sz="1400"/>
              <a:t>  service 单测 7 个 / controller 集成 8 个 / 专项补充 5 个</a:t>
            </a:r>
            <a:endParaRPr sz="1400"/>
          </a:p>
          <a:p>
            <a:r>
              <a:rPr sz="1400"/>
              <a:t>• 入口：mvn test，Surefire 实际运行 147 条用例</a:t>
            </a:r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754880" cy="292608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r>
              <a:rPr sz="1500"/>
              <a:t>其中的环境需求</a:t>
            </a:r>
            <a:endParaRPr sz="1500"/>
          </a:p>
          <a:p>
            <a:r>
              <a:rPr sz="1500"/>
              <a:t>• JDK 8+、Maven、Spring Boot 2.2.2</a:t>
            </a:r>
            <a:endParaRPr sz="1500"/>
          </a:p>
          <a:p>
            <a:r>
              <a:rPr sz="1500"/>
              <a:t>• H2 内存库，MySQL 兼容模式</a:t>
            </a:r>
            <a:endParaRPr sz="1500"/>
          </a:p>
          <a:p>
            <a:r>
              <a:rPr sz="1500"/>
              <a:t>• JUnit5 + Mockito + MockMvc</a:t>
            </a:r>
            <a:endParaRPr sz="1500"/>
          </a:p>
          <a:p>
            <a:r>
              <a:rPr sz="1500"/>
              <a:t>• JaCoCo 报告：target/site/jacoco/index.html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460621" y="820873"/>
            <a:ext cx="3753240" cy="515698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测试项通过</a:t>
            </a:r>
            <a:r>
              <a:rPr lang="en-US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/</a:t>
            </a: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失败准则</a:t>
            </a:r>
            <a:endParaRPr lang="en-US" altLang="zh-CN" sz="2400" b="1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功能测试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1800" b="1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通过准则：</a:t>
            </a: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测试项通过测试用例，满足预期功能且未出现任何错误；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solidFill>
                  <a:srgbClr val="000000"/>
                </a:solidFill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安全测试</a:t>
            </a:r>
            <a:endParaRPr lang="en-US" altLang="zh-CN" b="1" dirty="0">
              <a:solidFill>
                <a:srgbClr val="000000"/>
              </a:solidFill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1800" b="1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通过准则：</a:t>
            </a: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测试项未发现任何安全风险或安全漏洞；</a:t>
            </a:r>
            <a:endParaRPr lang="en-US" altLang="zh-CN" b="1" dirty="0"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18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失败准则：</a:t>
            </a:r>
            <a:r>
              <a:rPr lang="zh-CN" altLang="en-US" sz="18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反之</a:t>
            </a:r>
            <a:endParaRPr lang="zh-CN" altLang="zh-CN" sz="1800" b="1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038842" y="820873"/>
            <a:ext cx="7952014" cy="530831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just">
              <a:lnSpc>
                <a:spcPct val="150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暂停准则和继续准则</a:t>
            </a:r>
            <a:endParaRPr lang="zh-CN" altLang="zh-CN" sz="24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暂停准则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软件或硬件故障：测试环境或设备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严重缺陷或故障：项目代码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资源缺乏：人力、设备、时间不足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需求改变：需求改变，测试计划和测试用例需要重新评估调整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继续准则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软件或硬件故障</a:t>
            </a:r>
            <a:r>
              <a:rPr lang="zh-CN" alt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严重缺陷修复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资源问题解决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750"/>
              </a:spcAft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重新评估项目需求</a:t>
            </a:r>
            <a:endParaRPr lang="zh-CN" altLang="zh-CN" sz="1800" dirty="0">
              <a:effectLst/>
              <a:highlight>
                <a:srgbClr val="FFFFFF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风险管控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17320" y="1554480"/>
          <a:ext cx="9326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108960"/>
              </a:tblGrid>
              <a:tr h="621792">
                <a:tc>
                  <a:txBody>
                    <a:bodyPr/>
                    <a:lstStyle/>
                    <a:p>
                      <a:r>
                        <a:rPr sz="1700"/>
                        <a:t>风险类型</a:t>
                      </a:r>
                      <a:endParaRPr sz="1700"/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本项目表现</a:t>
                      </a:r>
                      <a:endParaRPr sz="1700"/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应急措施</a:t>
                      </a:r>
                      <a:endParaRPr sz="1700"/>
                    </a:p>
                  </a:txBody>
                  <a:tcPr>
                    <a:solidFill>
                      <a:srgbClr val="29ADD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/>
                        <a:t>数据库差异</a:t>
                      </a:r>
                      <a:endParaRPr sz="1700"/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H2 与 MySQL 可能存在少量行为差异</a:t>
                      </a:r>
                      <a:endParaRPr sz="1700"/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启用 MySQL 模式；真实库再回归</a:t>
                      </a:r>
                      <a:endParaRPr sz="1700"/>
                    </a:p>
                  </a:txBody>
                  <a:tcPr>
                    <a:solidFill>
                      <a:srgbClr val="DEEF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/>
                        <a:t>权限校验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后台页、删除订单未严格拦截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后续补登录/角色校验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/>
                        <a:t>参数边界</a:t>
                      </a:r>
                      <a:endParaRPr sz="1700"/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page=0、负数时长处理不足</a:t>
                      </a:r>
                      <a:endParaRPr sz="1700"/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增加边界校验并回归</a:t>
                      </a:r>
                      <a:endParaRPr sz="1700"/>
                    </a:p>
                  </a:txBody>
                  <a:tcPr>
                    <a:solidFill>
                      <a:srgbClr val="DEEF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700"/>
                        <a:t>密码安全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注册密码明文保存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后续加密存储并增加密码策略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57200"/>
            <a:ext cx="1280160" cy="1280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700" b="1">
                <a:solidFill>
                  <a:srgbClr val="000000"/>
                </a:solidFill>
                <a:latin typeface="微软雅黑" panose="020B0503020204020204" charset="-122"/>
              </a:rPr>
              <a:t>组员</a:t>
            </a:r>
            <a:endParaRPr sz="27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2700" b="1">
                <a:solidFill>
                  <a:srgbClr val="000000"/>
                </a:solidFill>
                <a:latin typeface="微软雅黑" panose="020B0503020204020204" charset="-122"/>
              </a:rPr>
              <a:t>分工</a:t>
            </a:r>
            <a:endParaRPr sz="27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48840" y="594360"/>
          <a:ext cx="8686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小组成员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职责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任务占比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胡彬泽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任务分配；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环境搭建；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部分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service 单测；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部分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controller 集成测试；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沙华煜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项目测试计划书；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部分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service 单测；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彭祈元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单元测试用例文档；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部分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controller 集成测试；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郭政颖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集成测试用例文档；维护 controller 编号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；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部分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service 单测；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/>
                      <a:endParaRPr lang="zh-CN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周宇尘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测试总结；结果汇总；</a:t>
                      </a:r>
                      <a:r>
                        <a:rPr 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部分</a:t>
                      </a:r>
                      <a:r>
                        <a:rPr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controller 集成测试；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时间安排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14300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日期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任务安排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输出成果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04.06-04.12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service 单元测试编写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 个 service 测试类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04.10-04.16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controller 集成测试编写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 个集成测试脚本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04.17-04.18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全量 mvn test 与覆盖率收集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JaCoCo + Surefire 报告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04.19-04.22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测试计划、用例文档、总结对齐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三份课程文档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04.23-04.26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PPT 汇报与提交包整理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PDF + 源码压缩包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"/>
            <a:ext cx="484632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PJ1测试的主要方法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3575" y="1280160"/>
            <a:ext cx="10789920" cy="1486535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主要活动：编写测试脚本、执行测试用例、分析覆盖率与结果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</a:t>
            </a:r>
            <a:r>
              <a:rPr sz="1500" b="1">
                <a:solidFill>
                  <a:srgbClr val="000000"/>
                </a:solidFill>
                <a:latin typeface="微软雅黑" panose="020B0503020204020204" charset="-122"/>
              </a:rPr>
              <a:t>技术：JUnit5、SpringBootTest、Mockito、MockMvc、H2、JaCoCo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黑盒：等价类划分、边界值分析，用于参数、ID、状态值、页码等输入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白盒：语句覆盖、判定覆盖，用于 service 分支与 controller 登录/跳转逻辑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冗余控制：合并同等价类和相同结果路径，保留代表性用例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7390" y="3429000"/>
            <a:ext cx="989647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sym typeface="+mn-ea"/>
              </a:rPr>
              <a:t>工具：IntelliJ IDEA等开发工具</a:t>
            </a:r>
            <a:endParaRPr sz="1500">
              <a:solidFill>
                <a:srgbClr val="000000"/>
              </a:solidFill>
              <a:latin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sym typeface="+mn-ea"/>
              </a:rPr>
              <a:t>期望的要达到的测试广度：每个Controller层的方法至少有一个测试用例</a:t>
            </a:r>
            <a:endParaRPr sz="150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sym typeface="+mn-ea"/>
              </a:rPr>
              <a:t>完成准则：测试覆盖率达到100%</a:t>
            </a:r>
            <a:endParaRPr sz="1500">
              <a:solidFill>
                <a:srgbClr val="000000"/>
              </a:solidFill>
              <a:latin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248031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测试覆盖模块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37360"/>
            <a:ext cx="1609344" cy="384048"/>
          </a:xfrm>
          <a:prstGeom prst="rect">
            <a:avLst/>
          </a:prstGeom>
          <a:solidFill>
            <a:srgbClr val="109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用户与登录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UserService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UserController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AdminUserController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68879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737360"/>
            <a:ext cx="1609344" cy="384048"/>
          </a:xfrm>
          <a:prstGeom prst="rect">
            <a:avLst/>
          </a:prstGeom>
          <a:solidFill>
            <a:srgbClr val="72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场馆信息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4203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VenueService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VenueController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AdminVenueController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4340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737360"/>
            <a:ext cx="1609344" cy="384048"/>
          </a:xfrm>
          <a:prstGeom prst="rect">
            <a:avLst/>
          </a:prstGeom>
          <a:solidFill>
            <a:srgbClr val="29A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预约订单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1655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OrderVoService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37360"/>
            <a:ext cx="1609344" cy="384048"/>
          </a:xfrm>
          <a:prstGeom prst="rect">
            <a:avLst/>
          </a:prstGeom>
          <a:solidFill>
            <a:srgbClr val="2A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留言板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9107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MessageVoService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9244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737360"/>
            <a:ext cx="1609344" cy="384048"/>
          </a:xfrm>
          <a:prstGeom prst="rect">
            <a:avLst/>
          </a:prstGeom>
          <a:solidFill>
            <a:srgbClr val="F1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新闻展示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6559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NewsService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NewsController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AdminNewsController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96696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1737360"/>
            <a:ext cx="1609344" cy="384048"/>
          </a:xfrm>
          <a:prstGeom prst="rect">
            <a:avLst/>
          </a:prstGeom>
          <a:solidFill>
            <a:srgbClr val="AB4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公共首页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4011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IndexController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公共内容展示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首页数据聚合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/>
              <a:t>本轮未覆盖的测试范围</a:t>
            </a:r>
            <a:endParaRPr sz="280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41732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不会被测试的特性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原因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  <a:endParaRPr sz="1700"/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浏览器 UI 自动化</a:t>
                      </a:r>
                      <a:endParaRPr sz="1700"/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PJ1 聚焦 service 单元测试与 controller 集成测试，不包含 E2E</a:t>
                      </a:r>
                      <a:endParaRPr sz="1700"/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2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性能压测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课程任务未要求吞吐、并发与响应时间指标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  <a:endParaRPr sz="1700"/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安全渗透测试</a:t>
                      </a:r>
                      <a:endParaRPr sz="1700"/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本轮只做功能测试与探索性缺陷记录，不做漏洞扫描</a:t>
                      </a:r>
                      <a:endParaRPr sz="1700"/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/>
                        <a:t>4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真实 MySQL 专有行为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/>
                        <a:t>测试环境用 H2 MySQL 模式保证可复现，真实库差异列为限制</a:t>
                      </a:r>
                      <a:endParaRPr sz="1700"/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微软雅黑" panose="020B0503020204020204" charset="-122"/>
              </a:rPr>
              <a:t>测试用例设计文档</a:t>
            </a:r>
            <a:endParaRPr sz="25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2500" b="1">
                <a:solidFill>
                  <a:srgbClr val="000000"/>
                </a:solidFill>
                <a:latin typeface="微软雅黑" panose="020B0503020204020204" charset="-122"/>
              </a:rPr>
              <a:t>以订单状态流转为例</a:t>
            </a:r>
            <a:endParaRPr sz="25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1099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设计技术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代表输入/场景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预期结果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编号口径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等价类划分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合法用户、合法场馆、存在的订单 ID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订单创建/查询成功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订单相关用例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边界值分析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page 默认值、非法页码、空参数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返回默认页或异常路径被验证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分页与参数用例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创建、取消、查询等核心业务路径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可达语句至少执行一次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单元测试用例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审核通过/拒绝、未登录/已登录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true/false 两侧均被验证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集成测试用例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覆盖率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2011680" cy="914400"/>
          </a:xfrm>
          <a:prstGeom prst="roundRect">
            <a:avLst/>
          </a:prstGeom>
          <a:solidFill>
            <a:srgbClr val="109D71"/>
          </a:solidFill>
          <a:ln w="6350">
            <a:solidFill>
              <a:srgbClr val="109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/>
              <a:t>147</a:t>
            </a:r>
            <a:endParaRPr sz="2800" b="1"/>
          </a:p>
          <a:p>
            <a:r>
              <a:rPr sz="1300" b="0"/>
              <a:t>真实测试用例全部通过</a:t>
            </a:r>
            <a:endParaRPr sz="1300" b="0"/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2011680" cy="914400"/>
          </a:xfrm>
          <a:prstGeom prst="roundRect">
            <a:avLst/>
          </a:prstGeom>
          <a:solidFill>
            <a:srgbClr val="29ADD1"/>
          </a:solidFill>
          <a:ln w="6350">
            <a:solidFill>
              <a:srgbClr val="29A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/>
              <a:t>100%</a:t>
            </a:r>
            <a:endParaRPr sz="2800" b="1"/>
          </a:p>
          <a:p>
            <a:r>
              <a:rPr sz="1300" b="0"/>
              <a:t>整体指令覆盖率</a:t>
            </a:r>
            <a:endParaRPr sz="1300" b="0"/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2011680" cy="914400"/>
          </a:xfrm>
          <a:prstGeom prst="roundRect">
            <a:avLst/>
          </a:prstGeom>
          <a:solidFill>
            <a:srgbClr val="F19100"/>
          </a:solidFill>
          <a:ln w="6350">
            <a:solidFill>
              <a:srgbClr val="F1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/>
              <a:t>100%</a:t>
            </a:r>
            <a:endParaRPr sz="2800" b="1"/>
          </a:p>
          <a:p>
            <a:r>
              <a:rPr sz="1300" b="0"/>
              <a:t>整体分支覆盖率</a:t>
            </a:r>
            <a:endParaRPr sz="1300" b="0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97325" y="648335"/>
            <a:ext cx="4631690" cy="45288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71800" y="5257800"/>
            <a:ext cx="7223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00"/>
              <a:t>正式回归：147 条全通过；探索性失败用例：6 条，用于记录缺陷，不纳入默认统计。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9296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每个测试类里的基本思路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0710" y="2003425"/>
            <a:ext cx="10881360" cy="268605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r>
              <a:rPr sz="1800"/>
              <a:t>• service 单测：@ExtendWith + MockitoExtension 隔离 DAO，验证业务方法返回与状态变化</a:t>
            </a:r>
            <a:endParaRPr sz="1800"/>
          </a:p>
          <a:p>
            <a:r>
              <a:rPr sz="1800"/>
              <a:t>• controller 集成：@SpringBootTest + @AutoConfigureMockMvc + H2，验证接口到数据库链路</a:t>
            </a:r>
            <a:endParaRPr sz="1800"/>
          </a:p>
          <a:p>
            <a:r>
              <a:rPr sz="1800"/>
              <a:t>• TestDataFactory / BeforeEach 统一造数，每个用例独立、可重复执行</a:t>
            </a:r>
            <a:endParaRPr sz="1800"/>
          </a:p>
          <a:p>
            <a:r>
              <a:rPr sz="1800"/>
              <a:t>• MockMvc 校验 status、content、view、redirect、session 与数据库结果</a:t>
            </a:r>
            <a:endParaRPr sz="1800"/>
          </a:p>
          <a:p>
            <a:r>
              <a:rPr sz="1800"/>
              <a:t>• mvn test 输出 Surefire 报告，JaCoCo 汇总覆盖率到 target/site/jacoco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示例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234440"/>
            <a:ext cx="5303520" cy="3246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latin typeface="Consolas" panose="020B0609020204030204"/>
              </a:rPr>
              <a:t>@Test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void shouldLoginNormalUserAndStoreSession() throws Exception {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    MvcResult result = mockMvc.perform(post("/loginCheck.do")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            .param("userID", normalUser.getUserID())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            .param("password", "pwd1"))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        .andExpect(status().isOk())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        .andExpect(content().string("/index"))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        .andReturn();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    User sessionUser = (User) result.getRequest().getSession().getAttribute("user");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    assertThat(sessionUser.getUserID()).isEqualTo(normalUser.getUserID());</a:t>
            </a:r>
            <a:endParaRPr sz="1000">
              <a:latin typeface="Consolas" panose="020B0609020204030204"/>
            </a:endParaRPr>
          </a:p>
          <a:p>
            <a:r>
              <a:rPr sz="1000">
                <a:latin typeface="Consolas" panose="020B0609020204030204"/>
              </a:rPr>
              <a:t>}</a:t>
            </a:r>
            <a:endParaRPr sz="1000">
              <a:latin typeface="Consolas" panose="020B0609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3246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00" b="1">
              <a:solidFill>
                <a:srgbClr val="FF000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77440" y="4892040"/>
            <a:ext cx="7498079" cy="50292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r>
              <a:rPr sz="1600"/>
              <a:t>左侧： UserController 集成测试，校验登录返回和 session 写入</a:t>
            </a:r>
            <a:endParaRPr sz="1600"/>
          </a:p>
          <a:p>
            <a:r>
              <a:rPr sz="1600"/>
              <a:t>右侧： UserServiceImpl 单元测试，校验 create 保存和计数逻辑</a:t>
            </a:r>
            <a:endParaRPr sz="1600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0080" y="1854835"/>
            <a:ext cx="5298440" cy="19189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59830" y="2200910"/>
            <a:ext cx="5219065" cy="1226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元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测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测试模块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用例数量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登录、注册、增删改查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场馆查询、更新、删除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订单创建、取消、审核状态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留言发布、审核、删除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新闻列表、详情、维护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VO 聚合查询与边界路径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公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共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示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测试设计技术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首页展示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首页内容正常加载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按页展示新闻数据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 + 边界值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新闻详情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查看存在 / 不存在新闻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展示场馆与分页信息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预约入口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登录与未登录访问分流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场馆查询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按名称查询有效/无效场馆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预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约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订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分页查看个人订单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登录态 + page 边界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合法预约 / 无效输入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有效类 / 无效类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取消订单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本人订单与非本人订单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权限与状态流转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按状态筛选订单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筛选与分页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审核订单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通过 / 拒绝两类结果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 true/false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状态推进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创建、取消、审核全流程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 + 异常路径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用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户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登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测试设计技术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A80B9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登录成功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合法账号与密码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登录失败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错误密码 / 不存在账号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注册用户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新账号 / 重复账号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 + 重复值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退出登录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清理会话状态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状态校验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管理员维护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用户增删改查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服务校验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登录、注册、删除、更新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留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言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板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AB4824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分页查看留言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分页边界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发布留言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登录用户发布有效内容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登录态 + 有效输入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空内容留言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空内容 / 缺少参数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删除留言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本人删除 / 非法删除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权限路径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管理员审核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通过 / 拒绝留言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留言与用户信息组合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后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台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理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场馆新增/修改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合法数据 / 边界价格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有效类 + 边界值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存在 ID / 不存在 ID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异常路径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新闻新增/修改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空标题 / 有效内容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无效类 + 有效类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删除后重定向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状态码与跳转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用户管理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重复账号与无效 ID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重复值 + 边界值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公共跳转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视图、模型、重定向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集成链路验证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02920"/>
            <a:ext cx="4389120" cy="6858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测试小结</a:t>
            </a:r>
            <a:endParaRPr sz="28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350" y="2089785"/>
            <a:ext cx="10555605" cy="2350135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l"/>
            <a:r>
              <a:rPr sz="1700"/>
              <a:t>• 本次测试围绕 SoftwareTestingDemo 核心业务展开，覆盖 service 单元测试和 controller 集成测试</a:t>
            </a:r>
            <a:r>
              <a:rPr lang="zh-CN" sz="1700"/>
              <a:t>。</a:t>
            </a:r>
            <a:endParaRPr lang="zh-CN" sz="1700"/>
          </a:p>
          <a:p>
            <a:pPr algn="l"/>
            <a:r>
              <a:rPr sz="1700"/>
              <a:t>• 正式回归 147 条用例全部通过，JaCoCo 指令、分支、行、方法覆盖率均为 100%。</a:t>
            </a:r>
            <a:endParaRPr sz="1700"/>
          </a:p>
          <a:p>
            <a:pPr algn="l"/>
            <a:r>
              <a:rPr sz="1700"/>
              <a:t>• 另设计 6 条探索性失败用例，发现后台鉴权、参数边界和密码明文存储等风险。</a:t>
            </a:r>
            <a:endParaRPr sz="1700"/>
          </a:p>
          <a:p>
            <a:pPr algn="l"/>
            <a:r>
              <a:rPr sz="1700"/>
              <a:t>• 探索用例不纳入默认 mvn test 统计，作为缺陷记录和后续修复方向。</a:t>
            </a:r>
            <a:endParaRPr sz="1700"/>
          </a:p>
          <a:p>
            <a:pPr algn="l"/>
            <a:r>
              <a:rPr sz="1700"/>
              <a:t>• 后续可补浏览器 UI 自动化、性能测试和真实 MySQL 环境回归。</a:t>
            </a:r>
            <a:endParaRPr sz="17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ODE3NzM4YjVmNGQ5YWQ1MWY4MzgxZGM1ZWEyZWIzN2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4263</Words>
  <Application>WPS 演示</Application>
  <PresentationFormat>On-screen Show (4:3)</PresentationFormat>
  <Paragraphs>723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等线</vt:lpstr>
      <vt:lpstr>黑体</vt:lpstr>
      <vt:lpstr>Times New Roman</vt:lpstr>
      <vt:lpstr>Calibri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胡彬泽</cp:lastModifiedBy>
  <cp:revision>8</cp:revision>
  <dcterms:created xsi:type="dcterms:W3CDTF">2013-01-27T09:14:00Z</dcterms:created>
  <dcterms:modified xsi:type="dcterms:W3CDTF">2026-04-23T12:07:54Z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8356CC68C3484669BEC19F9907E72335_12</vt:lpwstr>
  </property>
  <property fmtid="{D5CDD505-2E9C-101B-9397-08002B2CF9AE}" pid="3" name="KSOProductBuildVer">
    <vt:lpwstr>2052-12.1.0.15374</vt:lpwstr>
  </property>
</Properties>
</file>